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371600"/>
          </a:xfrm>
          <a:prstGeom prst="rect">
            <a:avLst/>
          </a:prstGeom>
          <a:noFill/>
        </p:spPr>
        <p:txBody>
          <a:bodyPr wrap="square">
            <a:spAutoFit/>
          </a:bodyPr>
          <a:lstStyle/>
          <a:p>
            <a:pPr algn="ctr">
              <a:defRPr b="1" sz="4400">
                <a:solidFill>
                  <a:srgbClr val="FFFFFF"/>
                </a:solidFill>
              </a:defRPr>
            </a:pPr>
            <a:r>
              <a:t>HỆ THỐNG ĐẶT VÉ MÁY BAY TRỰC TUYẾN</a:t>
            </a:r>
          </a:p>
        </p:txBody>
      </p:sp>
      <p:sp>
        <p:nvSpPr>
          <p:cNvPr id="4" name="TextBox 3"/>
          <p:cNvSpPr txBox="1"/>
          <p:nvPr/>
        </p:nvSpPr>
        <p:spPr>
          <a:xfrm>
            <a:off x="914400" y="3200400"/>
            <a:ext cx="10362895" cy="914400"/>
          </a:xfrm>
          <a:prstGeom prst="rect">
            <a:avLst/>
          </a:prstGeom>
          <a:noFill/>
        </p:spPr>
        <p:txBody>
          <a:bodyPr wrap="square">
            <a:spAutoFit/>
          </a:bodyPr>
          <a:lstStyle/>
          <a:p>
            <a:pPr algn="ctr">
              <a:defRPr sz="2400">
                <a:solidFill>
                  <a:srgbClr val="F37021"/>
                </a:solidFill>
              </a:defRPr>
            </a:pPr>
            <a:r>
              <a:t>Báo cáo Kiến trúc &amp; Giải pháp Công nghệ</a:t>
            </a:r>
          </a:p>
        </p:txBody>
      </p:sp>
      <p:sp>
        <p:nvSpPr>
          <p:cNvPr id="5" name="TextBox 4"/>
          <p:cNvSpPr txBox="1"/>
          <p:nvPr/>
        </p:nvSpPr>
        <p:spPr>
          <a:xfrm>
            <a:off x="914400" y="4572000"/>
            <a:ext cx="10362895" cy="1371600"/>
          </a:xfrm>
          <a:prstGeom prst="rect">
            <a:avLst/>
          </a:prstGeom>
          <a:noFill/>
        </p:spPr>
        <p:txBody>
          <a:bodyPr wrap="square">
            <a:spAutoFit/>
          </a:bodyPr>
          <a:lstStyle/>
          <a:p>
            <a:pPr algn="ctr">
              <a:defRPr sz="1600">
                <a:solidFill>
                  <a:srgbClr val="FFFFFF"/>
                </a:solidFill>
              </a:defRPr>
            </a:pPr>
            <a:r>
              <a:t>Nhóm 6</a:t>
            </a:r>
            <a:br/>
            <a:r>
              <a:t>Phạm Anh Dũng   -   Trịnh Đức Anh   -   Phạm Thiên Ân</a:t>
            </a:r>
            <a:br/>
            <a:br/>
            <a:r>
              <a:t>Trường Đại học Phenikaa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NỘI DUNG BÁO CÁO</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572000" cy="4114800"/>
          </a:xfrm>
          <a:prstGeom prst="rect">
            <a:avLst/>
          </a:prstGeom>
          <a:noFill/>
        </p:spPr>
        <p:txBody>
          <a:bodyPr wrap="square">
            <a:spAutoFit/>
          </a:bodyPr>
          <a:lstStyle/>
          <a:p>
            <a:pPr>
              <a:spcAft>
                <a:spcPts val="2000"/>
              </a:spcAft>
              <a:defRPr sz="2000" b="1">
                <a:solidFill>
                  <a:srgbClr val="0F172A"/>
                </a:solidFill>
              </a:defRPr>
            </a:pPr>
            <a:r>
              <a:t>1. Giới thiệu &amp; Đặt vấn đề</a:t>
            </a:r>
          </a:p>
          <a:p>
            <a:pPr>
              <a:spcAft>
                <a:spcPts val="2000"/>
              </a:spcAft>
              <a:defRPr sz="2000" b="1">
                <a:solidFill>
                  <a:srgbClr val="0F172A"/>
                </a:solidFill>
              </a:defRPr>
            </a:pPr>
            <a:r>
              <a:t>2. Kiến trúc &amp; Công nghệ Sử dụng</a:t>
            </a:r>
          </a:p>
          <a:p>
            <a:pPr>
              <a:spcAft>
                <a:spcPts val="2000"/>
              </a:spcAft>
              <a:defRPr sz="2000" b="1">
                <a:solidFill>
                  <a:srgbClr val="0F172A"/>
                </a:solidFill>
              </a:defRPr>
            </a:pPr>
            <a:r>
              <a:t>3. Thiết kế Cơ sở Dữ liệu (Database)</a:t>
            </a:r>
          </a:p>
        </p:txBody>
      </p:sp>
      <p:sp>
        <p:nvSpPr>
          <p:cNvPr id="7" name="TextBox 6"/>
          <p:cNvSpPr txBox="1"/>
          <p:nvPr/>
        </p:nvSpPr>
        <p:spPr>
          <a:xfrm>
            <a:off x="6400800" y="1828800"/>
            <a:ext cx="4572000" cy="4114800"/>
          </a:xfrm>
          <a:prstGeom prst="rect">
            <a:avLst/>
          </a:prstGeom>
          <a:noFill/>
        </p:spPr>
        <p:txBody>
          <a:bodyPr wrap="square">
            <a:spAutoFit/>
          </a:bodyPr>
          <a:lstStyle/>
          <a:p>
            <a:pPr>
              <a:spcAft>
                <a:spcPts val="2000"/>
              </a:spcAft>
              <a:defRPr sz="2000" b="1">
                <a:solidFill>
                  <a:srgbClr val="0F172A"/>
                </a:solidFill>
              </a:defRPr>
            </a:pPr>
            <a:r>
              <a:t>4. Các giải pháp kỹ thuật nâng cao</a:t>
            </a:r>
          </a:p>
          <a:p>
            <a:pPr>
              <a:spcAft>
                <a:spcPts val="2000"/>
              </a:spcAft>
              <a:defRPr sz="2000" b="1">
                <a:solidFill>
                  <a:srgbClr val="0F172A"/>
                </a:solidFill>
              </a:defRPr>
            </a:pPr>
            <a:r>
              <a:t>5. Phân hệ tính năng Client &amp; Admin</a:t>
            </a:r>
          </a:p>
          <a:p>
            <a:pPr>
              <a:spcAft>
                <a:spcPts val="2000"/>
              </a:spcAft>
              <a:defRPr sz="2000" b="1">
                <a:solidFill>
                  <a:srgbClr val="0F172A"/>
                </a:solidFill>
              </a:defRPr>
            </a:pPr>
            <a:r>
              <a:t>6. Hiện trạng &amp; Kế hoạch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Bối cảnh &amp; Thách thức nghiệp vụ</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10362895" cy="411480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200">
                <a:solidFill>
                  <a:srgbClr val="182B61"/>
                </a:solidFill>
              </a:defRPr>
            </a:pPr>
            <a:r>
              <a:t>Thách thức kỹ thuật trong bài toán đặt vé máy bay:</a:t>
            </a:r>
          </a:p>
          <a:p>
            <a:pPr>
              <a:spcAft>
                <a:spcPts val="1000"/>
              </a:spcAft>
              <a:defRPr sz="1800">
                <a:solidFill>
                  <a:srgbClr val="0F172A"/>
                </a:solidFill>
              </a:defRPr>
            </a:pPr>
            <a:r>
              <a:t>• Sự tăng trưởng nhu cầu: Yêu cầu hệ thống phản hồi tức thời, tra cứu mượt mà.</a:t>
            </a:r>
          </a:p>
          <a:p>
            <a:pPr>
              <a:spcAft>
                <a:spcPts val="1000"/>
              </a:spcAft>
              <a:defRPr sz="1800">
                <a:solidFill>
                  <a:srgbClr val="0F172A"/>
                </a:solidFill>
              </a:defRPr>
            </a:pPr>
            <a:r>
              <a:t>• Race Condition (Tranh chấp ghế): Tránh trường hợp nhiều khách hàng thanh toán cùng một ghế cùng lúc.</a:t>
            </a:r>
          </a:p>
          <a:p>
            <a:pPr>
              <a:spcAft>
                <a:spcPts val="1000"/>
              </a:spcAft>
              <a:defRPr sz="1800">
                <a:solidFill>
                  <a:srgbClr val="0F172A"/>
                </a:solidFill>
              </a:defRPr>
            </a:pPr>
            <a:r>
              <a:t>• Giữ ghế ảo đầu cơ: Khách hàng click chọn giữ ghế quá lâu nhưng không thực hiện thanh toán.</a:t>
            </a:r>
          </a:p>
          <a:p>
            <a:pPr>
              <a:spcAft>
                <a:spcPts val="1000"/>
              </a:spcAft>
              <a:defRPr sz="1800">
                <a:solidFill>
                  <a:srgbClr val="0F172A"/>
                </a:solidFill>
              </a:defRPr>
            </a:pPr>
            <a:r>
              <a:t>• Tính nhất quán dữ liệu &amp; tài chính: Giá vé thay đổi liên tục, cần snapshot lại giá tại thời điểm đặt.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Mục tiêu &amp; Giải pháp tổng thể</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3383280" cy="36576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000">
                <a:solidFill>
                  <a:srgbClr val="182B61"/>
                </a:solidFill>
              </a:defRPr>
            </a:pPr>
            <a:r>
              <a:t>1. Kiến trúc Decoupled</a:t>
            </a:r>
          </a:p>
          <a:p>
            <a:pPr algn="l">
              <a:defRPr sz="1600">
                <a:solidFill>
                  <a:srgbClr val="0F172A"/>
                </a:solidFill>
              </a:defRPr>
            </a:pPr>
            <a:r>
              <a:t>Tách độc lập Frontend (React) và Backend API (Express), dễ bảo trì và phân tách trách nhiệm nghiệp vụ rõ ràng.</a:t>
            </a:r>
          </a:p>
        </p:txBody>
      </p:sp>
      <p:sp>
        <p:nvSpPr>
          <p:cNvPr id="7" name="Rounded Rectangle 6"/>
          <p:cNvSpPr/>
          <p:nvPr/>
        </p:nvSpPr>
        <p:spPr>
          <a:xfrm>
            <a:off x="4389120" y="2011680"/>
            <a:ext cx="3383280" cy="36576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000">
                <a:solidFill>
                  <a:srgbClr val="182B61"/>
                </a:solidFill>
              </a:defRPr>
            </a:pPr>
            <a:r>
              <a:t>2. Trải nghiệm đặt vé mượt</a:t>
            </a:r>
          </a:p>
          <a:p>
            <a:pPr algn="l">
              <a:defRPr sz="1600">
                <a:solidFill>
                  <a:srgbClr val="0F172A"/>
                </a:solidFill>
              </a:defRPr>
            </a:pPr>
            <a:r>
              <a:t>Quy trình đặt vé tối giản 6 bước khép kín, trực quan hóa sơ đồ chọn ghế trên tàu bay.</a:t>
            </a:r>
          </a:p>
        </p:txBody>
      </p:sp>
      <p:sp>
        <p:nvSpPr>
          <p:cNvPr id="8" name="Rounded Rectangle 7"/>
          <p:cNvSpPr/>
          <p:nvPr/>
        </p:nvSpPr>
        <p:spPr>
          <a:xfrm>
            <a:off x="8046720" y="2011680"/>
            <a:ext cx="3383280" cy="36576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000">
                <a:solidFill>
                  <a:srgbClr val="182B61"/>
                </a:solidFill>
              </a:defRPr>
            </a:pPr>
            <a:r>
              <a:t>3. Bảo vệ từ Database</a:t>
            </a:r>
          </a:p>
          <a:p>
            <a:pPr algn="l">
              <a:defRPr sz="1600">
                <a:solidFill>
                  <a:srgbClr val="0F172A"/>
                </a:solidFill>
              </a:defRPr>
            </a:pPr>
            <a:r>
              <a:t>Giải quyết tranh chấp chỗ ngồi, mã giảm giá và bảo mật RLS trực tiếp tại tầng cơ sở dữ liệu.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Kiến trúc hệ thống API-First</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2743200" cy="1645920"/>
          </a:xfrm>
          <a:prstGeom prst="roundRect">
            <a:avLst/>
          </a:prstGeom>
          <a:solidFill>
            <a:srgbClr val="FFFFFF"/>
          </a:solidFill>
          <a:ln w="2540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182B61"/>
                </a:solidFill>
              </a:defRPr>
            </a:pPr>
            <a:r>
              <a:t>React Client</a:t>
            </a:r>
            <a:br/>
            <a:r>
              <a:t>(Frontend)</a:t>
            </a:r>
          </a:p>
        </p:txBody>
      </p:sp>
      <p:sp>
        <p:nvSpPr>
          <p:cNvPr id="7" name="Rounded Rectangle 6"/>
          <p:cNvSpPr/>
          <p:nvPr/>
        </p:nvSpPr>
        <p:spPr>
          <a:xfrm>
            <a:off x="4754880" y="2011680"/>
            <a:ext cx="2743200" cy="1645920"/>
          </a:xfrm>
          <a:prstGeom prst="roundRect">
            <a:avLst/>
          </a:prstGeom>
          <a:solidFill>
            <a:srgbClr val="FFFFFF"/>
          </a:solidFill>
          <a:ln w="2540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182B61"/>
                </a:solidFill>
              </a:defRPr>
            </a:pPr>
            <a:r>
              <a:t>Node.js Express</a:t>
            </a:r>
            <a:br/>
            <a:r>
              <a:t>(Backend API)</a:t>
            </a:r>
          </a:p>
        </p:txBody>
      </p:sp>
      <p:sp>
        <p:nvSpPr>
          <p:cNvPr id="8" name="Can 7"/>
          <p:cNvSpPr/>
          <p:nvPr/>
        </p:nvSpPr>
        <p:spPr>
          <a:xfrm>
            <a:off x="8503920" y="2011680"/>
            <a:ext cx="2743200" cy="1645920"/>
          </a:xfrm>
          <a:prstGeom prst="can">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F37021"/>
                </a:solidFill>
              </a:defRPr>
            </a:pPr>
            <a:r>
              <a:t>PostgreSQL</a:t>
            </a:r>
            <a:br/>
            <a:r>
              <a:t>(Supabase DB)</a:t>
            </a:r>
          </a:p>
        </p:txBody>
      </p:sp>
      <p:sp>
        <p:nvSpPr>
          <p:cNvPr id="9" name="Right Arrow 8"/>
          <p:cNvSpPr/>
          <p:nvPr/>
        </p:nvSpPr>
        <p:spPr>
          <a:xfrm>
            <a:off x="3749039" y="2560320"/>
            <a:ext cx="914400" cy="365760"/>
          </a:xfrm>
          <a:prstGeom prst="rightArrow">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7589520" y="2560320"/>
            <a:ext cx="822960" cy="36576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10362895" cy="1828800"/>
          </a:xfrm>
          <a:prstGeom prst="rect">
            <a:avLst/>
          </a:prstGeom>
          <a:noFill/>
        </p:spPr>
        <p:txBody>
          <a:bodyPr wrap="square">
            <a:spAutoFit/>
          </a:bodyPr>
          <a:lstStyle/>
          <a:p>
            <a:pPr>
              <a:spcAft>
                <a:spcPts val="1000"/>
              </a:spcAft>
              <a:defRPr b="1" sz="2000">
                <a:solidFill>
                  <a:srgbClr val="182B61"/>
                </a:solidFill>
              </a:defRPr>
            </a:pPr>
            <a:r>
              <a:t>Mô tả luồng hoạt động:</a:t>
            </a:r>
          </a:p>
          <a:p>
            <a:pPr>
              <a:defRPr sz="1600">
                <a:solidFill>
                  <a:srgbClr val="0F172A"/>
                </a:solidFill>
              </a:defRPr>
            </a:pPr>
            <a:r>
              <a:t>1. Client thực hiện gửi request API kèm JWT Token qua Axios.</a:t>
            </a:r>
          </a:p>
          <a:p>
            <a:pPr>
              <a:defRPr sz="1600">
                <a:solidFill>
                  <a:srgbClr val="0F172A"/>
                </a:solidFill>
              </a:defRPr>
            </a:pPr>
            <a:r>
              <a:t>2. Backend tiếp nhận, chạy middleware kiểm tra bảo mật (Helmet, Rate Limiter) và xác thực JWT.</a:t>
            </a:r>
          </a:p>
          <a:p>
            <a:pPr>
              <a:defRPr sz="1600">
                <a:solidFill>
                  <a:srgbClr val="0F172A"/>
                </a:solidFill>
              </a:defRPr>
            </a:pPr>
            <a:r>
              <a:t>3. Backend truy vấn an toàn và thực hiện transaction xử lý nghiệp vụ với PostgreSQL.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Công nghệ cốt lõi trong hệ thống</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1371600" y="1828800"/>
          <a:ext cx="9448495" cy="4114800"/>
        </p:xfrm>
        <a:graphic>
          <a:graphicData uri="http://schemas.openxmlformats.org/drawingml/2006/table">
            <a:tbl>
              <a:tblPr firstRow="1" bandRow="1">
                <a:tableStyleId>{5C22544A-7EE6-4342-B048-85BDC9FD1C3A}</a:tableStyleId>
              </a:tblPr>
              <a:tblGrid>
                <a:gridCol w="2743200"/>
                <a:gridCol w="6705295"/>
              </a:tblGrid>
              <a:tr h="685800">
                <a:tc>
                  <a:txBody>
                    <a:bodyPr/>
                    <a:lstStyle/>
                    <a:p>
                      <a:pPr>
                        <a:defRPr b="1" sz="1800">
                          <a:solidFill>
                            <a:srgbClr val="FFFFFF"/>
                          </a:solidFill>
                        </a:defRPr>
                      </a:pPr>
                      <a:r>
                        <a:t>Phân hệ / Lớp</a:t>
                      </a:r>
                    </a:p>
                  </a:txBody>
                  <a:tcPr>
                    <a:solidFill>
                      <a:srgbClr val="182B61"/>
                    </a:solidFill>
                  </a:tcPr>
                </a:tc>
                <a:tc>
                  <a:txBody>
                    <a:bodyPr/>
                    <a:lstStyle/>
                    <a:p>
                      <a:pPr>
                        <a:defRPr b="1" sz="1800">
                          <a:solidFill>
                            <a:srgbClr val="FFFFFF"/>
                          </a:solidFill>
                        </a:defRPr>
                      </a:pPr>
                      <a:r>
                        <a:t>Công nghệ &amp; Thư viện sử dụng</a:t>
                      </a:r>
                    </a:p>
                  </a:txBody>
                  <a:tcPr>
                    <a:solidFill>
                      <a:srgbClr val="182B61"/>
                    </a:solidFill>
                  </a:tcPr>
                </a:tc>
              </a:tr>
              <a:tr h="685800">
                <a:tc>
                  <a:txBody>
                    <a:bodyPr/>
                    <a:lstStyle/>
                    <a:p>
                      <a:pPr>
                        <a:defRPr sz="1600">
                          <a:solidFill>
                            <a:srgbClr val="0F172A"/>
                          </a:solidFill>
                        </a:defRPr>
                      </a:pPr>
                      <a:r>
                        <a:t>Frontend (Client)</a:t>
                      </a:r>
                    </a:p>
                  </a:txBody>
                  <a:tcPr>
                    <a:solidFill>
                      <a:srgbClr val="FFFFFF"/>
                    </a:solidFill>
                  </a:tcPr>
                </a:tc>
                <a:tc>
                  <a:txBody>
                    <a:bodyPr/>
                    <a:lstStyle/>
                    <a:p>
                      <a:pPr>
                        <a:defRPr sz="1600">
                          <a:solidFill>
                            <a:srgbClr val="0F172A"/>
                          </a:solidFill>
                        </a:defRPr>
                      </a:pPr>
                      <a:r>
                        <a:t>React 18, Vite, Tailwind CSS v4, shadcn/ui, Lucide Icons</a:t>
                      </a:r>
                    </a:p>
                  </a:txBody>
                  <a:tcPr>
                    <a:solidFill>
                      <a:srgbClr val="FFFFFF"/>
                    </a:solidFill>
                  </a:tcPr>
                </a:tc>
              </a:tr>
              <a:tr h="685800">
                <a:tc>
                  <a:txBody>
                    <a:bodyPr/>
                    <a:lstStyle/>
                    <a:p>
                      <a:pPr>
                        <a:defRPr sz="1600">
                          <a:solidFill>
                            <a:srgbClr val="0F172A"/>
                          </a:solidFill>
                        </a:defRPr>
                      </a:pPr>
                      <a:r>
                        <a:t>Backend (API Server)</a:t>
                      </a:r>
                    </a:p>
                  </a:txBody>
                  <a:tcPr>
                    <a:solidFill>
                      <a:srgbClr val="FFFFFF"/>
                    </a:solidFill>
                  </a:tcPr>
                </a:tc>
                <a:tc>
                  <a:txBody>
                    <a:bodyPr/>
                    <a:lstStyle/>
                    <a:p>
                      <a:pPr>
                        <a:defRPr sz="1600">
                          <a:solidFill>
                            <a:srgbClr val="0F172A"/>
                          </a:solidFill>
                        </a:defRPr>
                      </a:pPr>
                      <a:r>
                        <a:t>Node.js, Express, Zod (validation), Nodemailer (gửi hóa đơn)</a:t>
                      </a:r>
                    </a:p>
                  </a:txBody>
                  <a:tcPr>
                    <a:solidFill>
                      <a:srgbClr val="FFFFFF"/>
                    </a:solidFill>
                  </a:tcPr>
                </a:tc>
              </a:tr>
              <a:tr h="685800">
                <a:tc>
                  <a:txBody>
                    <a:bodyPr/>
                    <a:lstStyle/>
                    <a:p>
                      <a:pPr>
                        <a:defRPr sz="1600">
                          <a:solidFill>
                            <a:srgbClr val="0F172A"/>
                          </a:solidFill>
                        </a:defRPr>
                      </a:pPr>
                      <a:r>
                        <a:t>Database &amp; Auth</a:t>
                      </a:r>
                    </a:p>
                  </a:txBody>
                  <a:tcPr>
                    <a:solidFill>
                      <a:srgbClr val="FFFFFF"/>
                    </a:solidFill>
                  </a:tcPr>
                </a:tc>
                <a:tc>
                  <a:txBody>
                    <a:bodyPr/>
                    <a:lstStyle/>
                    <a:p>
                      <a:pPr>
                        <a:defRPr sz="1600">
                          <a:solidFill>
                            <a:srgbClr val="0F172A"/>
                          </a:solidFill>
                        </a:defRPr>
                      </a:pPr>
                      <a:r>
                        <a:t>Supabase (PostgreSQL), pg_cron (tác vụ ngầm)</a:t>
                      </a:r>
                    </a:p>
                  </a:txBody>
                  <a:tcPr>
                    <a:solidFill>
                      <a:srgbClr val="FFFFFF"/>
                    </a:solidFill>
                  </a:tcPr>
                </a:tc>
              </a:tr>
              <a:tr h="685800">
                <a:tc>
                  <a:txBody>
                    <a:bodyPr/>
                    <a:lstStyle/>
                    <a:p>
                      <a:pPr>
                        <a:defRPr sz="1600">
                          <a:solidFill>
                            <a:srgbClr val="0F172A"/>
                          </a:solidFill>
                        </a:defRPr>
                      </a:pPr>
                      <a:r>
                        <a:t>Thanh toán tích hợp</a:t>
                      </a:r>
                    </a:p>
                  </a:txBody>
                  <a:tcPr>
                    <a:solidFill>
                      <a:srgbClr val="FFFFFF"/>
                    </a:solidFill>
                  </a:tcPr>
                </a:tc>
                <a:tc>
                  <a:txBody>
                    <a:bodyPr/>
                    <a:lstStyle/>
                    <a:p>
                      <a:pPr>
                        <a:defRPr sz="1600">
                          <a:solidFill>
                            <a:srgbClr val="0F172A"/>
                          </a:solidFill>
                        </a:defRPr>
                      </a:pPr>
                      <a:r>
                        <a:t>VNPay Sandbox, MoMo, Stripe Sandbox (Simulated)</a:t>
                      </a:r>
                    </a:p>
                  </a:txBody>
                  <a:tcPr>
                    <a:solidFill>
                      <a:srgbClr val="FFFFFF"/>
                    </a:solidFill>
                  </a:tcPr>
                </a:tc>
              </a:tr>
              <a:tr h="685800">
                <a:tc>
                  <a:txBody>
                    <a:bodyPr/>
                    <a:lstStyle/>
                    <a:p>
                      <a:pPr>
                        <a:defRPr sz="1600">
                          <a:solidFill>
                            <a:srgbClr val="0F172A"/>
                          </a:solidFill>
                        </a:defRPr>
                      </a:pPr>
                      <a:r>
                        <a:t>Bảo mật hệ thống</a:t>
                      </a:r>
                    </a:p>
                  </a:txBody>
                  <a:tcPr>
                    <a:solidFill>
                      <a:srgbClr val="FFFFFF"/>
                    </a:solidFill>
                  </a:tcPr>
                </a:tc>
                <a:tc>
                  <a:txBody>
                    <a:bodyPr/>
                    <a:lstStyle/>
                    <a:p>
                      <a:pPr>
                        <a:defRPr sz="1600">
                          <a:solidFill>
                            <a:srgbClr val="0F172A"/>
                          </a:solidFill>
                        </a:defRPr>
                      </a:pPr>
                      <a:r>
                        <a:t>JWT, bcryptjs, Helmet, Express-Rate-Limit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Cơ sở dữ liệu - Nguyên tắc chuẩn hóa</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10362895" cy="438912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200">
                <a:solidFill>
                  <a:srgbClr val="182B61"/>
                </a:solidFill>
              </a:defRPr>
            </a:pPr>
            <a:r>
              <a:t>Cơ sở dữ liệu quan hệ PostgreSQL trên nền tảng Supabase:</a:t>
            </a:r>
          </a:p>
          <a:p>
            <a:pPr>
              <a:spcAft>
                <a:spcPts val="1000"/>
              </a:spcAft>
              <a:defRPr sz="1800">
                <a:solidFill>
                  <a:srgbClr val="0F172A"/>
                </a:solidFill>
              </a:defRPr>
            </a:pPr>
            <a:r>
              <a:t>• Toàn vẹn dữ liệu (ACID): Đảm bảo các giao dịch đặt chỗ và thanh toán diễn ra nhất quán.</a:t>
            </a:r>
          </a:p>
          <a:p>
            <a:pPr>
              <a:spcAft>
                <a:spcPts val="1000"/>
              </a:spcAft>
              <a:defRPr sz="1800">
                <a:solidFill>
                  <a:srgbClr val="0F172A"/>
                </a:solidFill>
              </a:defRPr>
            </a:pPr>
            <a:r>
              <a:t>• Bảo mật thông tin: Sử dụng khóa chính ngẫu nhiên UUID (Universal Unique Identifier) thay thế ID số tăng dần, ngăn chặn tấn công dò quét thông tin.</a:t>
            </a:r>
          </a:p>
          <a:p>
            <a:pPr>
              <a:spcAft>
                <a:spcPts val="1000"/>
              </a:spcAft>
              <a:defRPr sz="1800">
                <a:solidFill>
                  <a:srgbClr val="0F172A"/>
                </a:solidFill>
              </a:defRPr>
            </a:pPr>
            <a:r>
              <a:t>• An toàn tài chính: Cột giá tiền sử dụng kiểu dữ liệu NUMERIC(12,2) để triệt tiêu lỗi làm tròn dấu phẩy động.</a:t>
            </a:r>
          </a:p>
          <a:p>
            <a:pPr>
              <a:spcAft>
                <a:spcPts val="1000"/>
              </a:spcAft>
              <a:defRPr sz="1800">
                <a:solidFill>
                  <a:srgbClr val="0F172A"/>
                </a:solidFill>
              </a:defRPr>
            </a:pPr>
            <a:r>
              <a:t>• Chỉ mục tối ưu (Database Indexes): Tạo Index trên các trường tìm kiếm chính như departure_time, origin, destination, status để đẩy nhanh tốc độ truy vấn.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Cấu trúc cơ sở dữ liệu quan hệ (19 Bảng)</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645920"/>
            <a:ext cx="10362895" cy="4572000"/>
          </a:xfrm>
          <a:prstGeom prst="roundRect">
            <a:avLst/>
          </a:prstGeom>
          <a:solidFill>
            <a:srgbClr val="FFFFFF"/>
          </a:solidFill>
          <a:ln w="190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828800"/>
            <a:ext cx="9448495" cy="548640"/>
          </a:xfrm>
          <a:prstGeom prst="rect">
            <a:avLst/>
          </a:prstGeom>
          <a:noFill/>
        </p:spPr>
        <p:txBody>
          <a:bodyPr wrap="square">
            <a:spAutoFit/>
          </a:bodyPr>
          <a:lstStyle/>
          <a:p>
            <a:pPr>
              <a:defRPr b="1" sz="2000">
                <a:solidFill>
                  <a:srgbClr val="182B61"/>
                </a:solidFill>
              </a:defRPr>
            </a:pPr>
            <a:r>
              <a:t>Danh sách phân hệ bảng dữ liệu được chuẩn hóa:</a:t>
            </a:r>
          </a:p>
        </p:txBody>
      </p:sp>
      <p:sp>
        <p:nvSpPr>
          <p:cNvPr id="8" name="TextBox 7"/>
          <p:cNvSpPr txBox="1"/>
          <p:nvPr/>
        </p:nvSpPr>
        <p:spPr>
          <a:xfrm>
            <a:off x="1371600" y="2468880"/>
            <a:ext cx="4572000" cy="3657600"/>
          </a:xfrm>
          <a:prstGeom prst="rect">
            <a:avLst/>
          </a:prstGeom>
          <a:noFill/>
        </p:spPr>
        <p:txBody>
          <a:bodyPr wrap="square">
            <a:spAutoFit/>
          </a:bodyPr>
          <a:lstStyle/>
          <a:p>
            <a:pPr>
              <a:defRPr sz="1600" b="1">
                <a:solidFill>
                  <a:srgbClr val="F37021"/>
                </a:solidFill>
              </a:defRPr>
            </a:pPr>
            <a:r>
              <a:t>1. Vận hành đường bay:</a:t>
            </a:r>
          </a:p>
          <a:p>
            <a:pPr>
              <a:defRPr sz="1600">
                <a:solidFill>
                  <a:srgbClr val="0F172A"/>
                </a:solidFill>
              </a:defRPr>
            </a:pPr>
            <a:r>
              <a:t>   - airlines (Hãng bay)</a:t>
            </a:r>
          </a:p>
          <a:p>
            <a:pPr>
              <a:defRPr sz="1600">
                <a:solidFill>
                  <a:srgbClr val="0F172A"/>
                </a:solidFill>
              </a:defRPr>
            </a:pPr>
            <a:r>
              <a:t>   - airports (Sân bay)</a:t>
            </a:r>
          </a:p>
          <a:p>
            <a:pPr>
              <a:defRPr sz="1600">
                <a:solidFill>
                  <a:srgbClr val="0F172A"/>
                </a:solidFill>
              </a:defRPr>
            </a:pPr>
            <a:r>
              <a:t>   - aircrafts (Tàu bay)</a:t>
            </a:r>
          </a:p>
          <a:p>
            <a:pPr>
              <a:defRPr sz="1600">
                <a:solidFill>
                  <a:srgbClr val="0F172A"/>
                </a:solidFill>
              </a:defRPr>
            </a:pPr>
            <a:r>
              <a:t>   - flights (Chuyến bay)</a:t>
            </a:r>
          </a:p>
          <a:p>
            <a:pPr>
              <a:defRPr sz="1600" b="1">
                <a:solidFill>
                  <a:srgbClr val="F37021"/>
                </a:solidFill>
              </a:defRPr>
            </a:pPr>
            <a:r>
              <a:t>2. Nghiệp vụ đặt vé:</a:t>
            </a:r>
          </a:p>
          <a:p>
            <a:pPr>
              <a:defRPr sz="1600">
                <a:solidFill>
                  <a:srgbClr val="0F172A"/>
                </a:solidFill>
              </a:defRPr>
            </a:pPr>
            <a:r>
              <a:t>   - users (Thông tin mở rộng)</a:t>
            </a:r>
          </a:p>
          <a:p>
            <a:pPr>
              <a:defRPr sz="1600">
                <a:solidFill>
                  <a:srgbClr val="0F172A"/>
                </a:solidFill>
              </a:defRPr>
            </a:pPr>
            <a:r>
              <a:t>   - bookings (Đơn đặt vé)</a:t>
            </a:r>
          </a:p>
          <a:p>
            <a:pPr>
              <a:defRPr sz="1600">
                <a:solidFill>
                  <a:srgbClr val="0F172A"/>
                </a:solidFill>
              </a:defRPr>
            </a:pPr>
            <a:r>
              <a:t>   - passengers (Hành khách)</a:t>
            </a:r>
          </a:p>
        </p:txBody>
      </p:sp>
      <p:sp>
        <p:nvSpPr>
          <p:cNvPr id="9" name="TextBox 8"/>
          <p:cNvSpPr txBox="1"/>
          <p:nvPr/>
        </p:nvSpPr>
        <p:spPr>
          <a:xfrm>
            <a:off x="6400800" y="2468880"/>
            <a:ext cx="4572000" cy="3657600"/>
          </a:xfrm>
          <a:prstGeom prst="rect">
            <a:avLst/>
          </a:prstGeom>
          <a:noFill/>
        </p:spPr>
        <p:txBody>
          <a:bodyPr wrap="square">
            <a:spAutoFit/>
          </a:bodyPr>
          <a:lstStyle/>
          <a:p>
            <a:pPr>
              <a:defRPr sz="1600" b="1">
                <a:solidFill>
                  <a:srgbClr val="F37021"/>
                </a:solidFill>
              </a:defRPr>
            </a:pPr>
            <a:r>
              <a:t>3. Dịch vụ phụ trợ &amp; Ưu đãi:</a:t>
            </a:r>
          </a:p>
          <a:p>
            <a:pPr>
              <a:defRPr sz="1600">
                <a:solidFill>
                  <a:srgbClr val="0F172A"/>
                </a:solidFill>
              </a:defRPr>
            </a:pPr>
            <a:r>
              <a:t>   - baggage_options / booking_baggage</a:t>
            </a:r>
          </a:p>
          <a:p>
            <a:pPr>
              <a:defRPr sz="1600">
                <a:solidFill>
                  <a:srgbClr val="0F172A"/>
                </a:solidFill>
              </a:defRPr>
            </a:pPr>
            <a:r>
              <a:t>   - meal_options / booking_meals</a:t>
            </a:r>
          </a:p>
          <a:p>
            <a:pPr>
              <a:defRPr sz="1600">
                <a:solidFill>
                  <a:srgbClr val="0F172A"/>
                </a:solidFill>
              </a:defRPr>
            </a:pPr>
            <a:r>
              <a:t>   - discounts / booking_discounts</a:t>
            </a:r>
          </a:p>
          <a:p>
            <a:pPr>
              <a:defRPr sz="1600" b="1">
                <a:solidFill>
                  <a:srgbClr val="F37021"/>
                </a:solidFill>
              </a:defRPr>
            </a:pPr>
            <a:r>
              <a:t>4. Quản trị &amp; Hệ thống:</a:t>
            </a:r>
          </a:p>
          <a:p>
            <a:pPr>
              <a:defRPr sz="1600">
                <a:solidFill>
                  <a:srgbClr val="0F172A"/>
                </a:solidFill>
              </a:defRPr>
            </a:pPr>
            <a:r>
              <a:t>   - payments (Nhật ký thanh toán)</a:t>
            </a:r>
          </a:p>
          <a:p>
            <a:pPr>
              <a:defRPr sz="1600">
                <a:solidFill>
                  <a:srgbClr val="0F172A"/>
                </a:solidFill>
              </a:defRPr>
            </a:pPr>
            <a:r>
              <a:t>   - notifications (Thông báo realtime)</a:t>
            </a:r>
          </a:p>
          <a:p>
            <a:pPr>
              <a:defRPr sz="1600">
                <a:solidFill>
                  <a:srgbClr val="0F172A"/>
                </a:solidFill>
              </a:defRPr>
            </a:pPr>
            <a:r>
              <a:t>   - reviews (Phản hồi người dùng)</a:t>
            </a:r>
          </a:p>
          <a:p>
            <a:pPr>
              <a:defRPr sz="1600">
                <a:solidFill>
                  <a:srgbClr val="0F172A"/>
                </a:solidFill>
              </a:defRPr>
            </a:pPr>
            <a:r>
              <a:t>   - admin_logs (Lưu vết hành động)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Giải pháp 1: Chống Race Condition đặt ghế</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2560320" cy="109728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a:solidFill>
                  <a:srgbClr val="182B61"/>
                </a:solidFill>
              </a:defRPr>
            </a:pPr>
            <a:r>
              <a:t>Khách hàng A</a:t>
            </a:r>
          </a:p>
          <a:p>
            <a:r>
              <a:t>Đặt ghế 12A</a:t>
            </a:r>
          </a:p>
        </p:txBody>
      </p:sp>
      <p:sp>
        <p:nvSpPr>
          <p:cNvPr id="7" name="Rounded Rectangle 6"/>
          <p:cNvSpPr/>
          <p:nvPr/>
        </p:nvSpPr>
        <p:spPr>
          <a:xfrm>
            <a:off x="914400" y="3474720"/>
            <a:ext cx="2560320" cy="109728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a:lstStyle/>
          <a:p>
            <a:pPr>
              <a:defRPr sz="1600">
                <a:solidFill>
                  <a:srgbClr val="182B61"/>
                </a:solidFill>
              </a:defRPr>
            </a:pPr>
            <a:r>
              <a:t>Khách hàng B</a:t>
            </a:r>
          </a:p>
          <a:p>
            <a:r>
              <a:t>Đặt ghế 12A</a:t>
            </a:r>
          </a:p>
        </p:txBody>
      </p:sp>
      <p:sp>
        <p:nvSpPr>
          <p:cNvPr id="8" name="Diamond 7"/>
          <p:cNvSpPr/>
          <p:nvPr/>
        </p:nvSpPr>
        <p:spPr>
          <a:xfrm>
            <a:off x="4389120" y="2286000"/>
            <a:ext cx="2926080" cy="2011680"/>
          </a:xfrm>
          <a:prstGeom prst="diamond">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b="1" sz="1300">
                <a:solidFill>
                  <a:srgbClr val="FFFFFF"/>
                </a:solidFill>
              </a:defRPr>
            </a:pPr>
            <a:r>
              <a:t>PostgreSQL Lock</a:t>
            </a:r>
          </a:p>
          <a:p>
            <a:pPr algn="ctr">
              <a:defRPr b="1" sz="1200">
                <a:solidFill>
                  <a:srgbClr val="FFFFFF"/>
                </a:solidFill>
              </a:defRPr>
            </a:pPr>
            <a:r>
              <a:t>SELECT FOR UPDATE</a:t>
            </a:r>
          </a:p>
        </p:txBody>
      </p:sp>
      <p:sp>
        <p:nvSpPr>
          <p:cNvPr id="9" name="Rounded Rectangle 8"/>
          <p:cNvSpPr/>
          <p:nvPr/>
        </p:nvSpPr>
        <p:spPr>
          <a:xfrm>
            <a:off x="8412480" y="2011680"/>
            <a:ext cx="2926080" cy="109728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182B61"/>
                </a:solidFill>
              </a:defRPr>
            </a:pPr>
            <a:r>
              <a:t>Giao dịch A:</a:t>
            </a:r>
          </a:p>
          <a:p>
            <a:r>
              <a:t>Giữ ghế thành công ('held')</a:t>
            </a:r>
          </a:p>
        </p:txBody>
      </p:sp>
      <p:sp>
        <p:nvSpPr>
          <p:cNvPr id="10" name="Rounded Rectangle 9"/>
          <p:cNvSpPr/>
          <p:nvPr/>
        </p:nvSpPr>
        <p:spPr>
          <a:xfrm>
            <a:off x="8412480" y="3474720"/>
            <a:ext cx="2926080" cy="10972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DC2626"/>
                </a:solidFill>
              </a:defRPr>
            </a:pPr>
            <a:r>
              <a:t>Giao dịch B:</a:t>
            </a:r>
          </a:p>
          <a:p>
            <a:r>
              <a:t>Bị từ chối (Seat not available)</a:t>
            </a:r>
          </a:p>
        </p:txBody>
      </p:sp>
      <p:sp>
        <p:nvSpPr>
          <p:cNvPr id="11" name="Right Arrow 10"/>
          <p:cNvSpPr/>
          <p:nvPr/>
        </p:nvSpPr>
        <p:spPr>
          <a:xfrm>
            <a:off x="3657600" y="2468880"/>
            <a:ext cx="640080" cy="182880"/>
          </a:xfrm>
          <a:prstGeom prst="rightArrow">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3657600" y="3931920"/>
            <a:ext cx="640080" cy="182880"/>
          </a:xfrm>
          <a:prstGeom prst="rightArrow">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498079" y="2468880"/>
            <a:ext cx="73152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498079" y="3931920"/>
            <a:ext cx="73152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37760"/>
            <a:ext cx="10362895" cy="1371600"/>
          </a:xfrm>
          <a:prstGeom prst="rect">
            <a:avLst/>
          </a:prstGeom>
          <a:noFill/>
        </p:spPr>
        <p:txBody>
          <a:bodyPr wrap="square">
            <a:spAutoFit/>
          </a:bodyPr>
          <a:lstStyle/>
          <a:p>
            <a:pPr>
              <a:defRPr sz="1600">
                <a:solidFill>
                  <a:srgbClr val="0F172A"/>
                </a:solidFill>
              </a:defRPr>
            </a:pPr>
            <a:r>
              <a:t>• Giao dịch đầu tiên thực hiện hold_seat() sẽ khóa dòng dữ liệu ghế lại.</a:t>
            </a:r>
          </a:p>
          <a:p>
            <a:pPr>
              <a:defRPr sz="1600">
                <a:solidFill>
                  <a:srgbClr val="0F172A"/>
                </a:solidFill>
              </a:defRPr>
            </a:pPr>
            <a:r>
              <a:t>• Giao dịch thứ hai cố gắng truy cập sẽ bị chặn lại và nhận mã lỗi từ Database, chống đặt trùng.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Giải pháp 2: Giải phóng ghế ảo bằng pg_cron</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10362895" cy="411480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200">
                <a:solidFill>
                  <a:srgbClr val="182B61"/>
                </a:solidFill>
              </a:defRPr>
            </a:pPr>
            <a:r>
              <a:t>Quy trình giải phóng tài nguyên ghế tự động:</a:t>
            </a:r>
          </a:p>
          <a:p>
            <a:pPr>
              <a:spcAft>
                <a:spcPts val="1000"/>
              </a:spcAft>
              <a:defRPr sz="1800">
                <a:solidFill>
                  <a:srgbClr val="0F172A"/>
                </a:solidFill>
              </a:defRPr>
            </a:pPr>
            <a:r>
              <a:t>1. Khóa tạm thời: Khi chọn ghế, ghế chuyển sang trạng thái held trong vòng 10 phút để người dùng thanh toán.</a:t>
            </a:r>
          </a:p>
          <a:p>
            <a:pPr>
              <a:spcAft>
                <a:spcPts val="1000"/>
              </a:spcAft>
              <a:defRPr sz="1800">
                <a:solidFill>
                  <a:srgbClr val="0F172A"/>
                </a:solidFill>
              </a:defRPr>
            </a:pPr>
            <a:r>
              <a:t>2. Tác vụ quét ngầm: Sử dụng Postgres function release_expired_held_seats() kiểm tra thời gian cập nhật.</a:t>
            </a:r>
          </a:p>
          <a:p>
            <a:pPr>
              <a:spcAft>
                <a:spcPts val="1000"/>
              </a:spcAft>
              <a:defRPr sz="1800">
                <a:solidFill>
                  <a:srgbClr val="0F172A"/>
                </a:solidFill>
              </a:defRPr>
            </a:pPr>
            <a:r>
              <a:t>3. Tự động hóa qua pg_cron: Lập lịch cho hệ thống quét định kỳ mỗi 5 phút một lần để giải phóng các ghế giữ quá hạn về lại available.</a:t>
            </a:r>
          </a:p>
          <a:p>
            <a:pPr>
              <a:spcAft>
                <a:spcPts val="1000"/>
              </a:spcAft>
              <a:defRPr sz="1800">
                <a:solidFill>
                  <a:srgbClr val="0F172A"/>
                </a:solidFill>
              </a:defRPr>
            </a:pPr>
            <a:r>
              <a:t>4. Hiệu quả: Tối đa hóa công suất ghế thực tế, loại bỏ triệt để hành vi đầu cơ hoặc giữ ghế ảo.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Giải pháp 3: Bảo mật RLS &amp; Đồng bộ Realtime</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10362895" cy="411480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200">
                <a:solidFill>
                  <a:srgbClr val="182B61"/>
                </a:solidFill>
              </a:defRPr>
            </a:pPr>
            <a:r>
              <a:t>Phân quyền nâng cao (Row Level Security) &amp; Realtime:</a:t>
            </a:r>
          </a:p>
          <a:p>
            <a:pPr>
              <a:spcAft>
                <a:spcPts val="1000"/>
              </a:spcAft>
              <a:defRPr sz="1800">
                <a:solidFill>
                  <a:srgbClr val="0F172A"/>
                </a:solidFill>
              </a:defRPr>
            </a:pPr>
            <a:r>
              <a:t>• Row Level Security (RLS): Bật RLS cho toàn bộ các bảng. Khách hàng chỉ có quyền xem/sửa các bản ghi của chính họ (user_id = auth.uid()). Tránh rò rỉ dữ liệu người dùng.</a:t>
            </a:r>
          </a:p>
          <a:p>
            <a:pPr>
              <a:spcAft>
                <a:spcPts val="1000"/>
              </a:spcAft>
              <a:defRPr sz="1800">
                <a:solidFill>
                  <a:srgbClr val="0F172A"/>
                </a:solidFill>
              </a:defRPr>
            </a:pPr>
            <a:r>
              <a:t>• Phân quyền Admin: Quyền admin được tự động xác minh ở tầng database bằng cách đọc metadata (role = 'admin') trong chuỗi mã hóa JWT token.</a:t>
            </a:r>
          </a:p>
          <a:p>
            <a:pPr>
              <a:spcAft>
                <a:spcPts val="1000"/>
              </a:spcAft>
              <a:defRPr sz="1800">
                <a:solidFill>
                  <a:srgbClr val="0F172A"/>
                </a:solidFill>
              </a:defRPr>
            </a:pPr>
            <a:r>
              <a:t>• Đồng bộ Realtime: Sử dụng cơ chế lắng nghe sự kiện của Supabase Realtime cho bảng bookings và notifications giúp cập nhật trạng thái giao dịch và gửi thông báo tức thời cho người dùng.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Quy trình 6 bước phía Khách hàng (User)</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011680"/>
            <a:ext cx="1463040" cy="1463040"/>
          </a:xfrm>
          <a:prstGeom prst="ellipse">
            <a:avLst/>
          </a:prstGeom>
          <a:solidFill>
            <a:srgbClr val="182B61"/>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1. Tìm</a:t>
            </a:r>
          </a:p>
        </p:txBody>
      </p:sp>
      <p:sp>
        <p:nvSpPr>
          <p:cNvPr id="7" name="Right Arrow 6"/>
          <p:cNvSpPr/>
          <p:nvPr/>
        </p:nvSpPr>
        <p:spPr>
          <a:xfrm>
            <a:off x="2194560" y="2560320"/>
            <a:ext cx="36576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560320" y="2011680"/>
            <a:ext cx="1463040" cy="1463040"/>
          </a:xfrm>
          <a:prstGeom prst="ellipse">
            <a:avLst/>
          </a:prstGeom>
          <a:solidFill>
            <a:srgbClr val="182B61"/>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2. Điền</a:t>
            </a:r>
          </a:p>
        </p:txBody>
      </p:sp>
      <p:sp>
        <p:nvSpPr>
          <p:cNvPr id="9" name="Right Arrow 8"/>
          <p:cNvSpPr/>
          <p:nvPr/>
        </p:nvSpPr>
        <p:spPr>
          <a:xfrm>
            <a:off x="4023360" y="2560320"/>
            <a:ext cx="36576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89120" y="2011680"/>
            <a:ext cx="1463040" cy="1463040"/>
          </a:xfrm>
          <a:prstGeom prst="ellipse">
            <a:avLst/>
          </a:prstGeom>
          <a:solidFill>
            <a:srgbClr val="182B61"/>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3. Ghế</a:t>
            </a:r>
          </a:p>
        </p:txBody>
      </p:sp>
      <p:sp>
        <p:nvSpPr>
          <p:cNvPr id="11" name="Right Arrow 10"/>
          <p:cNvSpPr/>
          <p:nvPr/>
        </p:nvSpPr>
        <p:spPr>
          <a:xfrm>
            <a:off x="5852160" y="2560320"/>
            <a:ext cx="36576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17920" y="2011680"/>
            <a:ext cx="1463040" cy="1463040"/>
          </a:xfrm>
          <a:prstGeom prst="ellipse">
            <a:avLst/>
          </a:prstGeom>
          <a:solidFill>
            <a:srgbClr val="182B61"/>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4. Dịch vụ</a:t>
            </a:r>
          </a:p>
        </p:txBody>
      </p:sp>
      <p:sp>
        <p:nvSpPr>
          <p:cNvPr id="13" name="Right Arrow 12"/>
          <p:cNvSpPr/>
          <p:nvPr/>
        </p:nvSpPr>
        <p:spPr>
          <a:xfrm>
            <a:off x="7680960" y="2560320"/>
            <a:ext cx="36576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0" y="2011680"/>
            <a:ext cx="1463040" cy="1463040"/>
          </a:xfrm>
          <a:prstGeom prst="ellipse">
            <a:avLst/>
          </a:prstGeom>
          <a:solidFill>
            <a:srgbClr val="182B61"/>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5. Áp mã</a:t>
            </a:r>
          </a:p>
        </p:txBody>
      </p:sp>
      <p:sp>
        <p:nvSpPr>
          <p:cNvPr id="15" name="Right Arrow 14"/>
          <p:cNvSpPr/>
          <p:nvPr/>
        </p:nvSpPr>
        <p:spPr>
          <a:xfrm>
            <a:off x="9509760" y="2560320"/>
            <a:ext cx="365760" cy="182880"/>
          </a:xfrm>
          <a:prstGeom prst="rightArrow">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875520" y="2011680"/>
            <a:ext cx="1463040" cy="1463040"/>
          </a:xfrm>
          <a:prstGeom prst="ellipse">
            <a:avLst/>
          </a:prstGeom>
          <a:solidFill>
            <a:srgbClr val="182B61"/>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6. Trả</a:t>
            </a:r>
          </a:p>
        </p:txBody>
      </p:sp>
      <p:sp>
        <p:nvSpPr>
          <p:cNvPr id="17" name="TextBox 16"/>
          <p:cNvSpPr txBox="1"/>
          <p:nvPr/>
        </p:nvSpPr>
        <p:spPr>
          <a:xfrm>
            <a:off x="914400" y="3840480"/>
            <a:ext cx="10362895" cy="2286000"/>
          </a:xfrm>
          <a:prstGeom prst="rect">
            <a:avLst/>
          </a:prstGeom>
          <a:noFill/>
        </p:spPr>
        <p:txBody>
          <a:bodyPr wrap="square">
            <a:spAutoFit/>
          </a:bodyPr>
          <a:lstStyle/>
          <a:p>
            <a:pPr>
              <a:spcAft>
                <a:spcPts val="1000"/>
              </a:spcAft>
              <a:defRPr b="1" sz="2000">
                <a:solidFill>
                  <a:srgbClr val="182B61"/>
                </a:solidFill>
              </a:defRPr>
            </a:pPr>
            <a:r>
              <a:t>Chi tiết các chức năng người dùng:</a:t>
            </a:r>
          </a:p>
          <a:p>
            <a:pPr>
              <a:defRPr sz="1600">
                <a:solidFill>
                  <a:srgbClr val="0F172A"/>
                </a:solidFill>
              </a:defRPr>
            </a:pPr>
            <a:r>
              <a:t>• Đầy đủ các bước chọn điểm khởi hành/đến, lọc giá vé, xem chi tiết đường bay.</a:t>
            </a:r>
          </a:p>
          <a:p>
            <a:pPr>
              <a:defRPr sz="1600">
                <a:solidFill>
                  <a:srgbClr val="0F172A"/>
                </a:solidFill>
              </a:defRPr>
            </a:pPr>
            <a:r>
              <a:t>• Sơ đồ ghế ngồi trực quan hiển thị trạng thái ghế trống (economy, business, first class).</a:t>
            </a:r>
          </a:p>
          <a:p>
            <a:pPr>
              <a:defRPr sz="1600">
                <a:solidFill>
                  <a:srgbClr val="0F172A"/>
                </a:solidFill>
              </a:defRPr>
            </a:pPr>
            <a:r>
              <a:t>• Mua kèm hành lý ký gửi bổ sung, chọn các suất ăn tiêu chuẩn và nhập mã coupon giảm giá.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Hệ thống quản trị (Admin Dashboard)</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10362895" cy="4114800"/>
          </a:xfrm>
          <a:prstGeom prst="roundRect">
            <a:avLst/>
          </a:prstGeom>
          <a:solidFill>
            <a:srgbClr val="FFFFFF"/>
          </a:solidFill>
          <a:ln w="1905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500"/>
              </a:spcAft>
              <a:defRPr b="1" sz="2200">
                <a:solidFill>
                  <a:srgbClr val="182B61"/>
                </a:solidFill>
              </a:defRPr>
            </a:pPr>
            <a:r>
              <a:t>Các tính năng nghiệp vụ của quản trị viên:</a:t>
            </a:r>
          </a:p>
          <a:p>
            <a:pPr>
              <a:spcAft>
                <a:spcPts val="1000"/>
              </a:spcAft>
              <a:defRPr sz="1800">
                <a:solidFill>
                  <a:srgbClr val="0F172A"/>
                </a:solidFill>
              </a:defRPr>
            </a:pPr>
            <a:r>
              <a:t>• Quản lý danh mục: Thêm mới, chỉnh sửa thông tin sân bay, tàu bay, hãng bay, chuyến bay.</a:t>
            </a:r>
          </a:p>
          <a:p>
            <a:pPr>
              <a:spcAft>
                <a:spcPts val="1000"/>
              </a:spcAft>
              <a:defRPr sz="1800">
                <a:solidFill>
                  <a:srgbClr val="0F172A"/>
                </a:solidFill>
              </a:defRPr>
            </a:pPr>
            <a:r>
              <a:t>• Điều phối chuyến bay: Cập nhật giờ bay, đổi trạng thái chuyến bay thành delayed hoặc cancelled.</a:t>
            </a:r>
          </a:p>
          <a:p>
            <a:pPr>
              <a:spcAft>
                <a:spcPts val="1000"/>
              </a:spcAft>
              <a:defRPr sz="1800">
                <a:solidFill>
                  <a:srgbClr val="0F172A"/>
                </a:solidFill>
              </a:defRPr>
            </a:pPr>
            <a:r>
              <a:t>• Quản trị an toàn tài chính (Price Snapshot): Bảo lưu chính xác giá vé của khách hàng tại thời điểm đặt, tránh tranh chấp khi hãng hàng không điều chỉnh biểu giá mới.</a:t>
            </a:r>
          </a:p>
          <a:p>
            <a:pPr>
              <a:spcAft>
                <a:spcPts val="1000"/>
              </a:spcAft>
              <a:defRPr sz="1800">
                <a:solidFill>
                  <a:srgbClr val="0F172A"/>
                </a:solidFill>
              </a:defRPr>
            </a:pPr>
            <a:r>
              <a:t>• Giám sát &amp; Bảo mật: Theo dõi toàn bộ lịch sử thanh toán, xem nhật ký hoạt động (admin_logs) để phát hiện hành vi can thiệp bất thường.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a:spAutoFit/>
          </a:bodyPr>
          <a:lstStyle/>
          <a:p>
            <a:pPr algn="l">
              <a:defRPr b="1" sz="3200">
                <a:solidFill>
                  <a:srgbClr val="FFFFFF"/>
                </a:solidFill>
              </a:defRPr>
            </a:pPr>
            <a:r>
              <a:t>Hiện trạng &amp; Kế hoạch phát triển</a:t>
            </a:r>
          </a:p>
        </p:txBody>
      </p:sp>
      <p:sp>
        <p:nvSpPr>
          <p:cNvPr id="5" name="Rectangle 4"/>
          <p:cNvSpPr/>
          <p:nvPr/>
        </p:nvSpPr>
        <p:spPr>
          <a:xfrm>
            <a:off x="0" y="1097280"/>
            <a:ext cx="12191695" cy="9144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4937760" cy="4114800"/>
          </a:xfrm>
          <a:prstGeom prst="roundRect">
            <a:avLst/>
          </a:prstGeom>
          <a:solidFill>
            <a:srgbClr val="FFFFFF"/>
          </a:solidFill>
          <a:ln w="25400">
            <a:solidFill>
              <a:srgbClr val="182B6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2000">
                <a:solidFill>
                  <a:srgbClr val="182B61"/>
                </a:solidFill>
              </a:defRPr>
            </a:pPr>
            <a:r>
              <a:t>Hiện trạng hiện tại</a:t>
            </a:r>
          </a:p>
          <a:p>
            <a:pPr>
              <a:spcAft>
                <a:spcPts val="500"/>
              </a:spcAft>
              <a:defRPr sz="1600">
                <a:solidFill>
                  <a:srgbClr val="0F172A"/>
                </a:solidFill>
              </a:defRPr>
            </a:pPr>
            <a:r>
              <a:t>✓ Đã hoàn thiện toàn bộ schema thiết kế CSDL (19 bảng).</a:t>
            </a:r>
          </a:p>
          <a:p>
            <a:pPr>
              <a:spcAft>
                <a:spcPts val="500"/>
              </a:spcAft>
              <a:defRPr sz="1600">
                <a:solidFill>
                  <a:srgbClr val="0F172A"/>
                </a:solidFill>
              </a:defRPr>
            </a:pPr>
            <a:r>
              <a:t>✓ Đã xây dựng đầy đủ seed data mẫu cho các sân bay Việt Nam, tàu bay và chuyến bay thử nghiệm.</a:t>
            </a:r>
          </a:p>
          <a:p>
            <a:pPr>
              <a:spcAft>
                <a:spcPts val="500"/>
              </a:spcAft>
              <a:defRPr sz="1600">
                <a:solidFill>
                  <a:srgbClr val="0F172A"/>
                </a:solidFill>
              </a:defRPr>
            </a:pPr>
            <a:r>
              <a:t>✓ Đã thiết lập xong Boilerplate (cấu trúc khung) cho dự án Frontend và Backend API.</a:t>
            </a:r>
          </a:p>
        </p:txBody>
      </p:sp>
      <p:sp>
        <p:nvSpPr>
          <p:cNvPr id="7" name="Rounded Rectangle 6"/>
          <p:cNvSpPr/>
          <p:nvPr/>
        </p:nvSpPr>
        <p:spPr>
          <a:xfrm>
            <a:off x="6339535" y="1828800"/>
            <a:ext cx="4937760" cy="4114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b="1" sz="2000">
                <a:solidFill>
                  <a:srgbClr val="F37021"/>
                </a:solidFill>
              </a:defRPr>
            </a:pPr>
            <a:r>
              <a:t>Kế hoạch phát triển tiếp theo</a:t>
            </a:r>
          </a:p>
          <a:p>
            <a:pPr>
              <a:spcAft>
                <a:spcPts val="500"/>
              </a:spcAft>
              <a:defRPr sz="1600">
                <a:solidFill>
                  <a:srgbClr val="0F172A"/>
                </a:solidFill>
              </a:defRPr>
            </a:pPr>
            <a:r>
              <a:t>• Giai đoạn 1: Hiện thực hóa logic xử lý RESTful API các module backend.</a:t>
            </a:r>
          </a:p>
          <a:p>
            <a:pPr>
              <a:spcAft>
                <a:spcPts val="500"/>
              </a:spcAft>
              <a:defRPr sz="1600">
                <a:solidFill>
                  <a:srgbClr val="0F172A"/>
                </a:solidFill>
              </a:defRPr>
            </a:pPr>
            <a:r>
              <a:t>• Giai đoạn 2: Phát triển giao diện React chi tiết với Tailwind CSS v4.</a:t>
            </a:r>
          </a:p>
          <a:p>
            <a:pPr>
              <a:spcAft>
                <a:spcPts val="500"/>
              </a:spcAft>
              <a:defRPr sz="1600">
                <a:solidFill>
                  <a:srgbClr val="0F172A"/>
                </a:solidFill>
              </a:defRPr>
            </a:pPr>
            <a:r>
              <a:t>• Giai đoạn 3: Tích hợp dịch vụ thanh toán sandbox và kiểm thử tải (load testing).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371600"/>
          </a:xfrm>
          <a:prstGeom prst="rect">
            <a:avLst/>
          </a:prstGeom>
          <a:noFill/>
        </p:spPr>
        <p:txBody>
          <a:bodyPr wrap="square">
            <a:spAutoFit/>
          </a:bodyPr>
          <a:lstStyle/>
          <a:p>
            <a:pPr algn="ctr">
              <a:defRPr b="1" sz="4400">
                <a:solidFill>
                  <a:srgbClr val="FFFFFF"/>
                </a:solidFill>
              </a:defRPr>
            </a:pPr>
            <a:r>
              <a:t>CẢM ƠN THẦY CÔ VÀ CÁC BẠN ĐÃ LẮNG NGHE!</a:t>
            </a:r>
          </a:p>
        </p:txBody>
      </p:sp>
      <p:sp>
        <p:nvSpPr>
          <p:cNvPr id="4" name="TextBox 3"/>
          <p:cNvSpPr txBox="1"/>
          <p:nvPr/>
        </p:nvSpPr>
        <p:spPr>
          <a:xfrm>
            <a:off x="914400" y="3200400"/>
            <a:ext cx="10362895" cy="914400"/>
          </a:xfrm>
          <a:prstGeom prst="rect">
            <a:avLst/>
          </a:prstGeom>
          <a:noFill/>
        </p:spPr>
        <p:txBody>
          <a:bodyPr wrap="square">
            <a:spAutoFit/>
          </a:bodyPr>
          <a:lstStyle/>
          <a:p>
            <a:pPr algn="ctr">
              <a:defRPr sz="2400">
                <a:solidFill>
                  <a:srgbClr val="F37021"/>
                </a:solidFill>
              </a:defRPr>
            </a:pPr>
            <a:r>
              <a:t>Q &amp; A</a:t>
            </a:r>
          </a:p>
        </p:txBody>
      </p:sp>
      <p:sp>
        <p:nvSpPr>
          <p:cNvPr id="5" name="TextBox 4"/>
          <p:cNvSpPr txBox="1"/>
          <p:nvPr/>
        </p:nvSpPr>
        <p:spPr>
          <a:xfrm>
            <a:off x="914400" y="4572000"/>
            <a:ext cx="10362895" cy="1371600"/>
          </a:xfrm>
          <a:prstGeom prst="rect">
            <a:avLst/>
          </a:prstGeom>
          <a:noFill/>
        </p:spPr>
        <p:txBody>
          <a:bodyPr wrap="square">
            <a:spAutoFit/>
          </a:bodyPr>
          <a:lstStyle/>
          <a:p>
            <a:pPr algn="ctr">
              <a:defRPr sz="1600">
                <a:solidFill>
                  <a:srgbClr val="FFFFFF"/>
                </a:solidFill>
              </a:defRPr>
            </a:pPr>
            <a:r>
              <a:t>Nhóm 6</a:t>
            </a:r>
            <a:br/>
            <a:r>
              <a:t>Trường Đại học Phenikaa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